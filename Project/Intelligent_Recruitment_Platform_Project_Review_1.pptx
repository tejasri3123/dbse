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lgn="ctr">
              <a:defRPr sz="3000" b="1">
                <a:solidFill>
                  <a:srgbClr val="FFFFFF"/>
                </a:solidFill>
              </a:defRPr>
            </a:pPr>
            <a:r>
              <a:rPr b="0">
                <a:solidFill>
                  <a:srgbClr val="FFFFFF"/>
                </a:solidFill>
              </a:rPr>
              <a:t>PROJECT REVIEW – 1</a:t>
            </a:r>
          </a:p>
        </p:txBody>
      </p:sp>
      <p:sp>
        <p:nvSpPr>
          <p:cNvPr id="4" name="TextBox 3"/>
          <p:cNvSpPr txBox="1"/>
          <p:nvPr/>
        </p:nvSpPr>
        <p:spPr>
          <a:xfrm>
            <a:off x="685800" y="960120"/>
            <a:ext cx="10835640" cy="5440680"/>
          </a:xfrm>
          <a:prstGeom prst="rect">
            <a:avLst/>
          </a:prstGeom>
          <a:noFill/>
        </p:spPr>
        <p:txBody>
          <a:bodyPr wrap="square">
            <a:spAutoFit/>
          </a:bodyPr>
          <a:lstStyle/>
          <a:p>
            <a:pPr algn="ctr">
              <a:spcAft>
                <a:spcPts val="700"/>
              </a:spcAft>
              <a:defRPr sz="2000">
                <a:solidFill>
                  <a:srgbClr val="232323"/>
                </a:solidFill>
              </a:defRPr>
            </a:pPr>
            <a:r>
              <a:rPr b="1">
                <a:solidFill>
                  <a:srgbClr val="FFFFFF"/>
                </a:solidFill>
              </a:rPr>
              <a:t>INTELLIGENT RECRUITMENT PLATFORM WITH DATABASE SYSTEMS AND BACKEND ENGINEERING</a:t>
            </a:r>
          </a:p>
          <a:p>
            <a:pPr algn="ctr">
              <a:spcAft>
                <a:spcPts val="700"/>
              </a:spcAft>
              <a:defRPr sz="2000">
                <a:solidFill>
                  <a:srgbClr val="232323"/>
                </a:solidFill>
              </a:defRPr>
            </a:pPr>
          </a:p>
          <a:p>
            <a:pPr algn="ctr">
              <a:spcAft>
                <a:spcPts val="700"/>
              </a:spcAft>
              <a:defRPr sz="2000">
                <a:solidFill>
                  <a:srgbClr val="232323"/>
                </a:solidFill>
              </a:defRPr>
            </a:pPr>
            <a:r>
              <a:rPr b="0">
                <a:solidFill>
                  <a:srgbClr val="FFFFFF"/>
                </a:solidFill>
              </a:rPr>
              <a:t>Project Review 1</a:t>
            </a:r>
          </a:p>
          <a:p>
            <a:pPr algn="ctr">
              <a:spcAft>
                <a:spcPts val="700"/>
              </a:spcAft>
              <a:defRPr sz="2000">
                <a:solidFill>
                  <a:srgbClr val="232323"/>
                </a:solidFill>
              </a:defRPr>
            </a:pPr>
            <a:r>
              <a:rPr b="0">
                <a:solidFill>
                  <a:srgbClr val="FFFFFF"/>
                </a:solidFill>
              </a:rPr>
              <a:t>Department of Computer Science and Engineering</a:t>
            </a:r>
          </a:p>
          <a:p>
            <a:pPr algn="ctr">
              <a:spcAft>
                <a:spcPts val="700"/>
              </a:spcAft>
              <a:defRPr sz="2000">
                <a:solidFill>
                  <a:srgbClr val="232323"/>
                </a:solidFill>
              </a:defRPr>
            </a:pPr>
            <a:r>
              <a:rPr b="0">
                <a:solidFill>
                  <a:srgbClr val="FFFFFF"/>
                </a:solidFill>
              </a:rPr>
              <a:t>Academic Year 2026</a:t>
            </a:r>
          </a:p>
        </p:txBody>
      </p:sp>
      <p:sp>
        <p:nvSpPr>
          <p:cNvPr id="5" name="TextBox 4"/>
          <p:cNvSpPr txBox="1"/>
          <p:nvPr/>
        </p:nvSpPr>
        <p:spPr>
          <a:xfrm>
            <a:off x="10698480" y="6446520"/>
            <a:ext cx="914400" cy="228600"/>
          </a:xfrm>
          <a:prstGeom prst="rect">
            <a:avLst/>
          </a:prstGeom>
          <a:noFill/>
        </p:spPr>
        <p:txBody>
          <a:bodyPr wrap="none">
            <a:spAutoFit/>
          </a:bodyPr>
          <a:lstStyle/>
          <a:p>
            <a:pPr algn="ctr">
              <a:defRPr sz="1000">
                <a:solidFill>
                  <a:srgbClr val="646464"/>
                </a:solidFill>
              </a:defRPr>
            </a:pPr>
            <a:r>
              <a:rPr b="0">
                <a:solidFill>
                  <a:srgbClr val="FFFFFF"/>
                </a:solidFill>
              </a:rPr>
              <a:t>1</a:t>
            </a:r>
          </a:p>
        </p:txBody>
      </p:sp>
      <p:sp>
        <p:nvSpPr>
          <p:cNvPr id="6" name="Rectangle 5"/>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INTRODUCTION</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Recruitment is an important process for organizations because selecting the right candidate directly affects productivity and growth. Traditional recruitment methods often depend on manual resume screening, spreadsheets, emails, and disconnected records.</a:t>
            </a:r>
          </a:p>
          <a:p>
            <a:pPr>
              <a:spcAft>
                <a:spcPts val="700"/>
              </a:spcAft>
              <a:defRPr sz="1700">
                <a:solidFill>
                  <a:srgbClr val="232323"/>
                </a:solidFill>
              </a:defRPr>
            </a:pPr>
          </a:p>
          <a:p>
            <a:pPr>
              <a:spcAft>
                <a:spcPts val="700"/>
              </a:spcAft>
              <a:defRPr sz="1700">
                <a:solidFill>
                  <a:srgbClr val="232323"/>
                </a:solidFill>
              </a:defRPr>
            </a:pPr>
            <a:r>
              <a:t>The proposed Intelligent Recruitment Platform provides a centralized system for managing job vacancies, candidate profiles, resumes, applications, screening information, and recruitment status. The platform uses a structured database and backend services to make recruitment faster, organized, and easier to manage.</a:t>
            </a:r>
          </a:p>
          <a:p>
            <a:pPr>
              <a:spcAft>
                <a:spcPts val="700"/>
              </a:spcAft>
              <a:defRPr sz="1700">
                <a:solidFill>
                  <a:srgbClr val="232323"/>
                </a:solidFill>
              </a:defRPr>
            </a:pPr>
          </a:p>
          <a:p>
            <a:pPr>
              <a:spcAft>
                <a:spcPts val="700"/>
              </a:spcAft>
              <a:defRPr sz="1700">
                <a:solidFill>
                  <a:srgbClr val="232323"/>
                </a:solidFill>
              </a:defRPr>
            </a:pPr>
            <a:r>
              <a:t>The system is designed to reduce repetitive work, improve data consistency, and provide recruiters with quick access to relevant candidate information.</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PROBLEM STATEMENT</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Organizations may receive a large number of applications for a single job opening. Manually checking resumes and maintaining candidate information can consume significant time and may lead to errors.</a:t>
            </a:r>
          </a:p>
          <a:p>
            <a:pPr>
              <a:spcAft>
                <a:spcPts val="700"/>
              </a:spcAft>
              <a:defRPr sz="1700">
                <a:solidFill>
                  <a:srgbClr val="232323"/>
                </a:solidFill>
              </a:defRPr>
            </a:pPr>
          </a:p>
          <a:p>
            <a:pPr>
              <a:spcAft>
                <a:spcPts val="700"/>
              </a:spcAft>
              <a:defRPr sz="1700" b="1">
                <a:solidFill>
                  <a:srgbClr val="232323"/>
                </a:solidFill>
              </a:defRPr>
            </a:pPr>
            <a:r>
              <a:t>Major problems in the existing process include:</a:t>
            </a:r>
          </a:p>
          <a:p>
            <a:pPr>
              <a:spcAft>
                <a:spcPts val="700"/>
              </a:spcAft>
              <a:defRPr sz="1700">
                <a:solidFill>
                  <a:srgbClr val="232323"/>
                </a:solidFill>
              </a:defRPr>
            </a:pPr>
            <a:r>
              <a:t>• Manual resume screening and candidate shortlisting.</a:t>
            </a:r>
          </a:p>
          <a:p>
            <a:pPr>
              <a:spcAft>
                <a:spcPts val="700"/>
              </a:spcAft>
              <a:defRPr sz="1700">
                <a:solidFill>
                  <a:srgbClr val="232323"/>
                </a:solidFill>
              </a:defRPr>
            </a:pPr>
            <a:r>
              <a:t>• Candidate information stored in multiple files or spreadsheets.</a:t>
            </a:r>
          </a:p>
          <a:p>
            <a:pPr>
              <a:spcAft>
                <a:spcPts val="700"/>
              </a:spcAft>
              <a:defRPr sz="1700">
                <a:solidFill>
                  <a:srgbClr val="232323"/>
                </a:solidFill>
              </a:defRPr>
            </a:pPr>
            <a:r>
              <a:t>• Difficulty tracking application status and interview progress.</a:t>
            </a:r>
          </a:p>
          <a:p>
            <a:pPr>
              <a:spcAft>
                <a:spcPts val="700"/>
              </a:spcAft>
              <a:defRPr sz="1700">
                <a:solidFill>
                  <a:srgbClr val="232323"/>
                </a:solidFill>
              </a:defRPr>
            </a:pPr>
            <a:r>
              <a:t>• Duplicate or incomplete candidate records.</a:t>
            </a:r>
          </a:p>
          <a:p>
            <a:pPr>
              <a:spcAft>
                <a:spcPts val="700"/>
              </a:spcAft>
              <a:defRPr sz="1700">
                <a:solidFill>
                  <a:srgbClr val="232323"/>
                </a:solidFill>
              </a:defRPr>
            </a:pPr>
            <a:r>
              <a:t>• Limited communication between different recruitment stages.</a:t>
            </a:r>
          </a:p>
          <a:p>
            <a:pPr>
              <a:spcAft>
                <a:spcPts val="700"/>
              </a:spcAft>
              <a:defRPr sz="1700">
                <a:solidFill>
                  <a:srgbClr val="232323"/>
                </a:solidFill>
              </a:defRPr>
            </a:pPr>
            <a:r>
              <a:t>• Difficulty retrieving historical recruitment information.</a:t>
            </a:r>
          </a:p>
          <a:p>
            <a:pPr>
              <a:spcAft>
                <a:spcPts val="700"/>
              </a:spcAft>
              <a:defRPr sz="1700">
                <a:solidFill>
                  <a:srgbClr val="232323"/>
                </a:solidFill>
              </a:defRPr>
            </a:pPr>
          </a:p>
          <a:p>
            <a:pPr>
              <a:spcAft>
                <a:spcPts val="700"/>
              </a:spcAft>
              <a:defRPr sz="1700">
                <a:solidFill>
                  <a:srgbClr val="232323"/>
                </a:solidFill>
              </a:defRPr>
            </a:pPr>
            <a:r>
              <a:t>Therefore, a centralized recruitment platform with database support and backend automation is required.</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OBJECTIVES</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main objective is to develop an intelligent and centralized recruitment platform that simplifies the complete hiring workflow.</a:t>
            </a:r>
          </a:p>
          <a:p>
            <a:pPr>
              <a:spcAft>
                <a:spcPts val="700"/>
              </a:spcAft>
              <a:defRPr sz="1700">
                <a:solidFill>
                  <a:srgbClr val="232323"/>
                </a:solidFill>
              </a:defRPr>
            </a:pPr>
          </a:p>
          <a:p>
            <a:pPr>
              <a:spcAft>
                <a:spcPts val="700"/>
              </a:spcAft>
              <a:defRPr sz="1700" b="1">
                <a:solidFill>
                  <a:srgbClr val="232323"/>
                </a:solidFill>
              </a:defRPr>
            </a:pPr>
            <a:r>
              <a:t>Key objectives:</a:t>
            </a:r>
          </a:p>
          <a:p>
            <a:pPr>
              <a:spcAft>
                <a:spcPts val="700"/>
              </a:spcAft>
              <a:defRPr sz="1700">
                <a:solidFill>
                  <a:srgbClr val="232323"/>
                </a:solidFill>
              </a:defRPr>
            </a:pPr>
            <a:r>
              <a:t>• Store candidate, recruiter, job, and application information securely.</a:t>
            </a:r>
          </a:p>
          <a:p>
            <a:pPr>
              <a:spcAft>
                <a:spcPts val="700"/>
              </a:spcAft>
              <a:defRPr sz="1700">
                <a:solidFill>
                  <a:srgbClr val="232323"/>
                </a:solidFill>
              </a:defRPr>
            </a:pPr>
            <a:r>
              <a:t>• Allow recruiters to create and manage job vacancies.</a:t>
            </a:r>
          </a:p>
          <a:p>
            <a:pPr>
              <a:spcAft>
                <a:spcPts val="700"/>
              </a:spcAft>
              <a:defRPr sz="1700">
                <a:solidFill>
                  <a:srgbClr val="232323"/>
                </a:solidFill>
              </a:defRPr>
            </a:pPr>
            <a:r>
              <a:t>• Allow candidates to create profiles and apply for suitable jobs.</a:t>
            </a:r>
          </a:p>
          <a:p>
            <a:pPr>
              <a:spcAft>
                <a:spcPts val="700"/>
              </a:spcAft>
              <a:defRPr sz="1700">
                <a:solidFill>
                  <a:srgbClr val="232323"/>
                </a:solidFill>
              </a:defRPr>
            </a:pPr>
            <a:r>
              <a:t>• Maintain application status from application to selection.</a:t>
            </a:r>
          </a:p>
          <a:p>
            <a:pPr>
              <a:spcAft>
                <a:spcPts val="700"/>
              </a:spcAft>
              <a:defRPr sz="1700">
                <a:solidFill>
                  <a:srgbClr val="232323"/>
                </a:solidFill>
              </a:defRPr>
            </a:pPr>
            <a:r>
              <a:t>• Support resume information and candidate screening.</a:t>
            </a:r>
          </a:p>
          <a:p>
            <a:pPr>
              <a:spcAft>
                <a:spcPts val="700"/>
              </a:spcAft>
              <a:defRPr sz="1700">
                <a:solidFill>
                  <a:srgbClr val="232323"/>
                </a:solidFill>
              </a:defRPr>
            </a:pPr>
            <a:r>
              <a:t>• Provide database-driven search and filtering of candidates.</a:t>
            </a:r>
          </a:p>
          <a:p>
            <a:pPr>
              <a:spcAft>
                <a:spcPts val="700"/>
              </a:spcAft>
              <a:defRPr sz="1700">
                <a:solidFill>
                  <a:srgbClr val="232323"/>
                </a:solidFill>
              </a:defRPr>
            </a:pPr>
            <a:r>
              <a:t>• Reduce manual recruitment effort and improve data accuracy.</a:t>
            </a:r>
          </a:p>
          <a:p>
            <a:pPr>
              <a:spcAft>
                <a:spcPts val="700"/>
              </a:spcAft>
              <a:defRPr sz="1700">
                <a:solidFill>
                  <a:srgbClr val="232323"/>
                </a:solidFill>
              </a:defRPr>
            </a:pPr>
            <a:r>
              <a:t>• Build scalable backend services for future intelligent recruitment features.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EXISTING SYSTEM</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In many conventional recruitment processes, candidate information is collected through emails, online forms, spreadsheets, and separate files. Recruiters manually review resumes and update application status.</a:t>
            </a:r>
          </a:p>
          <a:p>
            <a:pPr>
              <a:spcAft>
                <a:spcPts val="700"/>
              </a:spcAft>
              <a:defRPr sz="1700">
                <a:solidFill>
                  <a:srgbClr val="232323"/>
                </a:solidFill>
              </a:defRPr>
            </a:pPr>
          </a:p>
          <a:p>
            <a:pPr>
              <a:spcAft>
                <a:spcPts val="700"/>
              </a:spcAft>
              <a:defRPr sz="1700" b="1">
                <a:solidFill>
                  <a:srgbClr val="232323"/>
                </a:solidFill>
              </a:defRPr>
            </a:pPr>
            <a:r>
              <a:t>Limitations of the existing approach:</a:t>
            </a:r>
          </a:p>
          <a:p>
            <a:pPr>
              <a:spcAft>
                <a:spcPts val="700"/>
              </a:spcAft>
              <a:defRPr sz="1700">
                <a:solidFill>
                  <a:srgbClr val="232323"/>
                </a:solidFill>
              </a:defRPr>
            </a:pPr>
            <a:r>
              <a:t>• Time-consuming manual screening.</a:t>
            </a:r>
          </a:p>
          <a:p>
            <a:pPr>
              <a:spcAft>
                <a:spcPts val="700"/>
              </a:spcAft>
              <a:defRPr sz="1700">
                <a:solidFill>
                  <a:srgbClr val="232323"/>
                </a:solidFill>
              </a:defRPr>
            </a:pPr>
            <a:r>
              <a:t>• Difficult to maintain large numbers of candidate records.</a:t>
            </a:r>
          </a:p>
          <a:p>
            <a:pPr>
              <a:spcAft>
                <a:spcPts val="700"/>
              </a:spcAft>
              <a:defRPr sz="1700">
                <a:solidFill>
                  <a:srgbClr val="232323"/>
                </a:solidFill>
              </a:defRPr>
            </a:pPr>
            <a:r>
              <a:t>• Higher possibility of human error.</a:t>
            </a:r>
          </a:p>
          <a:p>
            <a:pPr>
              <a:spcAft>
                <a:spcPts val="700"/>
              </a:spcAft>
              <a:defRPr sz="1700">
                <a:solidFill>
                  <a:srgbClr val="232323"/>
                </a:solidFill>
              </a:defRPr>
            </a:pPr>
            <a:r>
              <a:t>• No single centralized database.</a:t>
            </a:r>
          </a:p>
          <a:p>
            <a:pPr>
              <a:spcAft>
                <a:spcPts val="700"/>
              </a:spcAft>
              <a:defRPr sz="1700">
                <a:solidFill>
                  <a:srgbClr val="232323"/>
                </a:solidFill>
              </a:defRPr>
            </a:pPr>
            <a:r>
              <a:t>• Difficult to track the complete recruitment lifecycle.</a:t>
            </a:r>
          </a:p>
          <a:p>
            <a:pPr>
              <a:spcAft>
                <a:spcPts val="700"/>
              </a:spcAft>
              <a:defRPr sz="1700">
                <a:solidFill>
                  <a:srgbClr val="232323"/>
                </a:solidFill>
              </a:defRPr>
            </a:pPr>
            <a:r>
              <a:t>• Searching and comparing candidates takes more time.</a:t>
            </a:r>
          </a:p>
          <a:p>
            <a:pPr>
              <a:spcAft>
                <a:spcPts val="700"/>
              </a:spcAft>
              <a:defRPr sz="1700">
                <a:solidFill>
                  <a:srgbClr val="232323"/>
                </a:solidFill>
              </a:defRPr>
            </a:pPr>
            <a:r>
              <a:t>• Reports and recruitment statistics may require additional manual work.</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PROPOSED SYSTEM</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proposed Intelligent Recruitment Platform combines a user-friendly recruitment interface with a structured database and backend services.</a:t>
            </a:r>
          </a:p>
          <a:p>
            <a:pPr>
              <a:spcAft>
                <a:spcPts val="700"/>
              </a:spcAft>
              <a:defRPr sz="1700">
                <a:solidFill>
                  <a:srgbClr val="232323"/>
                </a:solidFill>
              </a:defRPr>
            </a:pPr>
          </a:p>
          <a:p>
            <a:pPr>
              <a:spcAft>
                <a:spcPts val="700"/>
              </a:spcAft>
              <a:defRPr sz="1700">
                <a:solidFill>
                  <a:srgbClr val="232323"/>
                </a:solidFill>
              </a:defRPr>
            </a:pPr>
            <a:r>
              <a:t>Candidates can register, maintain their profiles, view available jobs, and submit applications. Recruiters can create vacancies, view applicants, search candidate information, update application status, and manage the recruitment workflow.</a:t>
            </a:r>
          </a:p>
          <a:p>
            <a:pPr>
              <a:spcAft>
                <a:spcPts val="700"/>
              </a:spcAft>
              <a:defRPr sz="1700">
                <a:solidFill>
                  <a:srgbClr val="232323"/>
                </a:solidFill>
              </a:defRPr>
            </a:pPr>
          </a:p>
          <a:p>
            <a:pPr>
              <a:spcAft>
                <a:spcPts val="700"/>
              </a:spcAft>
              <a:defRPr sz="1700">
                <a:solidFill>
                  <a:srgbClr val="232323"/>
                </a:solidFill>
              </a:defRPr>
            </a:pPr>
            <a:r>
              <a:t>The backend handles authentication, business logic, validation, database operations, and API communication. The database stores information in organized tables so that candidate and recruitment records can be retrieved efficiently.</a:t>
            </a:r>
          </a:p>
          <a:p>
            <a:pPr>
              <a:spcAft>
                <a:spcPts val="700"/>
              </a:spcAft>
              <a:defRPr sz="1700">
                <a:solidFill>
                  <a:srgbClr val="232323"/>
                </a:solidFill>
              </a:defRPr>
            </a:pPr>
          </a:p>
          <a:p>
            <a:pPr>
              <a:spcAft>
                <a:spcPts val="700"/>
              </a:spcAft>
              <a:defRPr sz="1700">
                <a:solidFill>
                  <a:srgbClr val="232323"/>
                </a:solidFill>
              </a:defRPr>
            </a:pPr>
            <a:r>
              <a:t>The platform can later be extended with resume parsing, skill matching, ranking, recommendation, and analytics features.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SYSTEM MODULES</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1. Candidate Module</a:t>
            </a:r>
          </a:p>
          <a:p>
            <a:pPr>
              <a:spcAft>
                <a:spcPts val="700"/>
              </a:spcAft>
              <a:defRPr sz="1700">
                <a:solidFill>
                  <a:srgbClr val="232323"/>
                </a:solidFill>
              </a:defRPr>
            </a:pPr>
            <a:r>
              <a:t>• Registration and login</a:t>
            </a:r>
          </a:p>
          <a:p>
            <a:pPr>
              <a:spcAft>
                <a:spcPts val="700"/>
              </a:spcAft>
              <a:defRPr sz="1700">
                <a:solidFill>
                  <a:srgbClr val="232323"/>
                </a:solidFill>
              </a:defRPr>
            </a:pPr>
            <a:r>
              <a:t>• Profile management</a:t>
            </a:r>
          </a:p>
          <a:p>
            <a:pPr>
              <a:spcAft>
                <a:spcPts val="700"/>
              </a:spcAft>
              <a:defRPr sz="1700">
                <a:solidFill>
                  <a:srgbClr val="232323"/>
                </a:solidFill>
              </a:defRPr>
            </a:pPr>
            <a:r>
              <a:t>• Resume and skill information</a:t>
            </a:r>
          </a:p>
          <a:p>
            <a:pPr>
              <a:spcAft>
                <a:spcPts val="700"/>
              </a:spcAft>
              <a:defRPr sz="1700">
                <a:solidFill>
                  <a:srgbClr val="232323"/>
                </a:solidFill>
              </a:defRPr>
            </a:pPr>
            <a:r>
              <a:t>• Job search and application tracking</a:t>
            </a:r>
          </a:p>
          <a:p>
            <a:pPr>
              <a:spcAft>
                <a:spcPts val="700"/>
              </a:spcAft>
              <a:defRPr sz="1700">
                <a:solidFill>
                  <a:srgbClr val="232323"/>
                </a:solidFill>
              </a:defRPr>
            </a:pPr>
          </a:p>
          <a:p>
            <a:pPr>
              <a:spcAft>
                <a:spcPts val="700"/>
              </a:spcAft>
              <a:defRPr sz="1700">
                <a:solidFill>
                  <a:srgbClr val="232323"/>
                </a:solidFill>
              </a:defRPr>
            </a:pPr>
            <a:r>
              <a:t>2. Recruiter Module</a:t>
            </a:r>
          </a:p>
          <a:p>
            <a:pPr>
              <a:spcAft>
                <a:spcPts val="700"/>
              </a:spcAft>
              <a:defRPr sz="1700">
                <a:solidFill>
                  <a:srgbClr val="232323"/>
                </a:solidFill>
              </a:defRPr>
            </a:pPr>
            <a:r>
              <a:t>• Recruiter authentication</a:t>
            </a:r>
          </a:p>
          <a:p>
            <a:pPr>
              <a:spcAft>
                <a:spcPts val="700"/>
              </a:spcAft>
              <a:defRPr sz="1700">
                <a:solidFill>
                  <a:srgbClr val="232323"/>
                </a:solidFill>
              </a:defRPr>
            </a:pPr>
            <a:r>
              <a:t>• Job creation and management</a:t>
            </a:r>
          </a:p>
          <a:p>
            <a:pPr>
              <a:spcAft>
                <a:spcPts val="700"/>
              </a:spcAft>
              <a:defRPr sz="1700">
                <a:solidFill>
                  <a:srgbClr val="232323"/>
                </a:solidFill>
              </a:defRPr>
            </a:pPr>
            <a:r>
              <a:t>• Candidate search and filtering</a:t>
            </a:r>
          </a:p>
          <a:p>
            <a:pPr>
              <a:spcAft>
                <a:spcPts val="700"/>
              </a:spcAft>
              <a:defRPr sz="1700">
                <a:solidFill>
                  <a:srgbClr val="232323"/>
                </a:solidFill>
              </a:defRPr>
            </a:pPr>
            <a:r>
              <a:t>• Application status management</a:t>
            </a:r>
          </a:p>
          <a:p>
            <a:pPr>
              <a:spcAft>
                <a:spcPts val="700"/>
              </a:spcAft>
              <a:defRPr sz="1700">
                <a:solidFill>
                  <a:srgbClr val="232323"/>
                </a:solidFill>
              </a:defRPr>
            </a:pPr>
          </a:p>
          <a:p>
            <a:pPr>
              <a:spcAft>
                <a:spcPts val="700"/>
              </a:spcAft>
              <a:defRPr sz="1700">
                <a:solidFill>
                  <a:srgbClr val="232323"/>
                </a:solidFill>
              </a:defRPr>
            </a:pPr>
            <a:r>
              <a:t>3. Job Management Module</a:t>
            </a:r>
          </a:p>
          <a:p>
            <a:pPr>
              <a:spcAft>
                <a:spcPts val="700"/>
              </a:spcAft>
              <a:defRPr sz="1700">
                <a:solidFill>
                  <a:srgbClr val="232323"/>
                </a:solidFill>
              </a:defRPr>
            </a:pPr>
            <a:r>
              <a:t>• Add, update, and remove vacancies</a:t>
            </a:r>
          </a:p>
          <a:p>
            <a:pPr>
              <a:spcAft>
                <a:spcPts val="700"/>
              </a:spcAft>
              <a:defRPr sz="1700">
                <a:solidFill>
                  <a:srgbClr val="232323"/>
                </a:solidFill>
              </a:defRPr>
            </a:pPr>
            <a:r>
              <a:t>• Job description and requirements</a:t>
            </a:r>
          </a:p>
          <a:p>
            <a:pPr>
              <a:spcAft>
                <a:spcPts val="700"/>
              </a:spcAft>
              <a:defRPr sz="1700">
                <a:solidFill>
                  <a:srgbClr val="232323"/>
                </a:solidFill>
              </a:defRPr>
            </a:pPr>
            <a:r>
              <a:t>• Application deadline and status</a:t>
            </a:r>
          </a:p>
          <a:p>
            <a:pPr>
              <a:spcAft>
                <a:spcPts val="700"/>
              </a:spcAft>
              <a:defRPr sz="1700">
                <a:solidFill>
                  <a:srgbClr val="232323"/>
                </a:solidFill>
              </a:defRPr>
            </a:pPr>
          </a:p>
          <a:p>
            <a:pPr>
              <a:spcAft>
                <a:spcPts val="700"/>
              </a:spcAft>
              <a:defRPr sz="1700">
                <a:solidFill>
                  <a:srgbClr val="232323"/>
                </a:solidFill>
              </a:defRPr>
            </a:pPr>
            <a:r>
              <a:t>4. Application Module</a:t>
            </a:r>
          </a:p>
          <a:p>
            <a:pPr>
              <a:spcAft>
                <a:spcPts val="700"/>
              </a:spcAft>
              <a:defRPr sz="1700">
                <a:solidFill>
                  <a:srgbClr val="232323"/>
                </a:solidFill>
              </a:defRPr>
            </a:pPr>
            <a:r>
              <a:t>• Submit applications</a:t>
            </a:r>
          </a:p>
          <a:p>
            <a:pPr>
              <a:spcAft>
                <a:spcPts val="700"/>
              </a:spcAft>
              <a:defRPr sz="1700">
                <a:solidFill>
                  <a:srgbClr val="232323"/>
                </a:solidFill>
              </a:defRPr>
            </a:pPr>
            <a:r>
              <a:t>• Track application progress</a:t>
            </a:r>
          </a:p>
          <a:p>
            <a:pPr>
              <a:spcAft>
                <a:spcPts val="700"/>
              </a:spcAft>
              <a:defRPr sz="1700">
                <a:solidFill>
                  <a:srgbClr val="232323"/>
                </a:solidFill>
              </a:defRPr>
            </a:pPr>
            <a:r>
              <a:t>• Update screening and interview status</a:t>
            </a:r>
          </a:p>
          <a:p>
            <a:pPr>
              <a:spcAft>
                <a:spcPts val="700"/>
              </a:spcAft>
              <a:defRPr sz="1700">
                <a:solidFill>
                  <a:srgbClr val="232323"/>
                </a:solidFill>
              </a:defRPr>
            </a:pPr>
          </a:p>
          <a:p>
            <a:pPr>
              <a:spcAft>
                <a:spcPts val="700"/>
              </a:spcAft>
              <a:defRPr sz="1700">
                <a:solidFill>
                  <a:srgbClr val="232323"/>
                </a:solidFill>
              </a:defRPr>
            </a:pPr>
            <a:r>
              <a:t>5. Database Module</a:t>
            </a:r>
          </a:p>
          <a:p>
            <a:pPr>
              <a:spcAft>
                <a:spcPts val="700"/>
              </a:spcAft>
              <a:defRPr sz="1700">
                <a:solidFill>
                  <a:srgbClr val="232323"/>
                </a:solidFill>
              </a:defRPr>
            </a:pPr>
            <a:r>
              <a:t>• Centralized storage</a:t>
            </a:r>
          </a:p>
          <a:p>
            <a:pPr>
              <a:spcAft>
                <a:spcPts val="700"/>
              </a:spcAft>
              <a:defRPr sz="1700">
                <a:solidFill>
                  <a:srgbClr val="232323"/>
                </a:solidFill>
              </a:defRPr>
            </a:pPr>
            <a:r>
              <a:t>• Data validation and relationships</a:t>
            </a:r>
          </a:p>
          <a:p>
            <a:pPr>
              <a:spcAft>
                <a:spcPts val="700"/>
              </a:spcAft>
              <a:defRPr sz="1700">
                <a:solidFill>
                  <a:srgbClr val="232323"/>
                </a:solidFill>
              </a:defRPr>
            </a:pPr>
            <a:r>
              <a:t>• Search and retrieval of records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SYSTEM ARCHITECTURE</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system follows a layered architecture consisting of the presentation layer, backend/application layer, and database layer.</a:t>
            </a:r>
          </a:p>
          <a:p>
            <a:pPr>
              <a:spcAft>
                <a:spcPts val="700"/>
              </a:spcAft>
              <a:defRPr sz="1700">
                <a:solidFill>
                  <a:srgbClr val="232323"/>
                </a:solidFill>
              </a:defRPr>
            </a:pPr>
          </a:p>
          <a:p>
            <a:pPr>
              <a:spcAft>
                <a:spcPts val="700"/>
              </a:spcAft>
              <a:defRPr sz="1700" b="1">
                <a:solidFill>
                  <a:srgbClr val="232323"/>
                </a:solidFill>
              </a:defRPr>
            </a:pPr>
            <a:r>
              <a:t>Presentation Layer:</a:t>
            </a:r>
          </a:p>
          <a:p>
            <a:pPr>
              <a:spcAft>
                <a:spcPts val="700"/>
              </a:spcAft>
              <a:defRPr sz="1700">
                <a:solidFill>
                  <a:srgbClr val="232323"/>
                </a:solidFill>
              </a:defRPr>
            </a:pPr>
            <a:r>
              <a:t>Provides screens for candidates and recruiters to register, login, manage profiles, view jobs, and track applications.</a:t>
            </a:r>
          </a:p>
          <a:p>
            <a:pPr>
              <a:spcAft>
                <a:spcPts val="700"/>
              </a:spcAft>
              <a:defRPr sz="1700">
                <a:solidFill>
                  <a:srgbClr val="232323"/>
                </a:solidFill>
              </a:defRPr>
            </a:pPr>
          </a:p>
          <a:p>
            <a:pPr>
              <a:spcAft>
                <a:spcPts val="700"/>
              </a:spcAft>
              <a:defRPr sz="1700" b="1">
                <a:solidFill>
                  <a:srgbClr val="232323"/>
                </a:solidFill>
              </a:defRPr>
            </a:pPr>
            <a:r>
              <a:t>Backend Layer:</a:t>
            </a:r>
          </a:p>
          <a:p>
            <a:pPr>
              <a:spcAft>
                <a:spcPts val="700"/>
              </a:spcAft>
              <a:defRPr sz="1700">
                <a:solidFill>
                  <a:srgbClr val="232323"/>
                </a:solidFill>
              </a:defRPr>
            </a:pPr>
            <a:r>
              <a:t>Processes requests, validates input, performs authentication, applies recruitment business rules, and communicates with the database through APIs.</a:t>
            </a:r>
          </a:p>
          <a:p>
            <a:pPr>
              <a:spcAft>
                <a:spcPts val="700"/>
              </a:spcAft>
              <a:defRPr sz="1700">
                <a:solidFill>
                  <a:srgbClr val="232323"/>
                </a:solidFill>
              </a:defRPr>
            </a:pPr>
          </a:p>
          <a:p>
            <a:pPr>
              <a:spcAft>
                <a:spcPts val="700"/>
              </a:spcAft>
              <a:defRPr sz="1700" b="1">
                <a:solidFill>
                  <a:srgbClr val="232323"/>
                </a:solidFill>
              </a:defRPr>
            </a:pPr>
            <a:r>
              <a:t>Database Layer:</a:t>
            </a:r>
          </a:p>
          <a:p>
            <a:pPr>
              <a:spcAft>
                <a:spcPts val="700"/>
              </a:spcAft>
              <a:defRPr sz="1700">
                <a:solidFill>
                  <a:srgbClr val="232323"/>
                </a:solidFill>
              </a:defRPr>
            </a:pPr>
            <a:r>
              <a:t>Stores candidate details, recruiter details, jobs, applications, skills, interviews, and application status in structured relational tables.</a:t>
            </a:r>
          </a:p>
          <a:p>
            <a:pPr>
              <a:spcAft>
                <a:spcPts val="700"/>
              </a:spcAft>
              <a:defRPr sz="1700">
                <a:solidFill>
                  <a:srgbClr val="232323"/>
                </a:solidFill>
              </a:defRPr>
            </a:pPr>
          </a:p>
          <a:p>
            <a:pPr>
              <a:spcAft>
                <a:spcPts val="700"/>
              </a:spcAft>
              <a:defRPr sz="1700">
                <a:solidFill>
                  <a:srgbClr val="232323"/>
                </a:solidFill>
              </a:defRPr>
            </a:pPr>
            <a:r>
              <a:t>This architecture separates responsibilities and makes the system easier to maintain, test, and extend.</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DATABASE DESIGN</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A relational database is used to maintain recruitment information in a structured form.</a:t>
            </a:r>
          </a:p>
          <a:p>
            <a:pPr>
              <a:spcAft>
                <a:spcPts val="700"/>
              </a:spcAft>
              <a:defRPr sz="1700">
                <a:solidFill>
                  <a:srgbClr val="232323"/>
                </a:solidFill>
              </a:defRPr>
            </a:pPr>
          </a:p>
          <a:p>
            <a:pPr>
              <a:spcAft>
                <a:spcPts val="700"/>
              </a:spcAft>
              <a:defRPr sz="1700" b="1">
                <a:solidFill>
                  <a:srgbClr val="232323"/>
                </a:solidFill>
              </a:defRPr>
            </a:pPr>
            <a:r>
              <a:t>Important entities include:</a:t>
            </a:r>
          </a:p>
          <a:p>
            <a:pPr>
              <a:spcAft>
                <a:spcPts val="700"/>
              </a:spcAft>
              <a:defRPr sz="1700">
                <a:solidFill>
                  <a:srgbClr val="232323"/>
                </a:solidFill>
              </a:defRPr>
            </a:pPr>
            <a:r>
              <a:t>• Candidate – candidate ID, name, email, phone, education, experience and skills.</a:t>
            </a:r>
          </a:p>
          <a:p>
            <a:pPr>
              <a:spcAft>
                <a:spcPts val="700"/>
              </a:spcAft>
              <a:defRPr sz="1700">
                <a:solidFill>
                  <a:srgbClr val="232323"/>
                </a:solidFill>
              </a:defRPr>
            </a:pPr>
            <a:r>
              <a:t>• Recruiter – recruiter ID, name, email and organization information.</a:t>
            </a:r>
          </a:p>
          <a:p>
            <a:pPr>
              <a:spcAft>
                <a:spcPts val="700"/>
              </a:spcAft>
              <a:defRPr sz="1700">
                <a:solidFill>
                  <a:srgbClr val="232323"/>
                </a:solidFill>
              </a:defRPr>
            </a:pPr>
            <a:r>
              <a:t>• Job – job ID, title, description, skills, location and deadline.</a:t>
            </a:r>
          </a:p>
          <a:p>
            <a:pPr>
              <a:spcAft>
                <a:spcPts val="700"/>
              </a:spcAft>
              <a:defRPr sz="1700">
                <a:solidFill>
                  <a:srgbClr val="232323"/>
                </a:solidFill>
              </a:defRPr>
            </a:pPr>
            <a:r>
              <a:t>• Application – application ID, candidate ID, job ID, date and status.</a:t>
            </a:r>
          </a:p>
          <a:p>
            <a:pPr>
              <a:spcAft>
                <a:spcPts val="700"/>
              </a:spcAft>
              <a:defRPr sz="1700">
                <a:solidFill>
                  <a:srgbClr val="232323"/>
                </a:solidFill>
              </a:defRPr>
            </a:pPr>
            <a:r>
              <a:t>• Interview – interview ID, application ID, schedule and result.</a:t>
            </a:r>
          </a:p>
          <a:p>
            <a:pPr>
              <a:spcAft>
                <a:spcPts val="700"/>
              </a:spcAft>
              <a:defRPr sz="1700">
                <a:solidFill>
                  <a:srgbClr val="232323"/>
                </a:solidFill>
              </a:defRPr>
            </a:pPr>
            <a:r>
              <a:t>• Skills – skill ID, skill name and candidate association.</a:t>
            </a:r>
          </a:p>
          <a:p>
            <a:pPr>
              <a:spcAft>
                <a:spcPts val="700"/>
              </a:spcAft>
              <a:defRPr sz="1700">
                <a:solidFill>
                  <a:srgbClr val="232323"/>
                </a:solidFill>
              </a:defRPr>
            </a:pPr>
          </a:p>
          <a:p>
            <a:pPr>
              <a:spcAft>
                <a:spcPts val="700"/>
              </a:spcAft>
              <a:defRPr sz="1700">
                <a:solidFill>
                  <a:srgbClr val="232323"/>
                </a:solidFill>
              </a:defRPr>
            </a:pPr>
            <a:r>
              <a:t>Primary keys uniquely identify records, while foreign keys establish relationships between candidates, jobs, applications, and interviews. This reduces duplication and maintains data integrity.</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BACKEND ENGINEERING</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backend acts as the central processing component of the recruitment platform. It receives requests from the user interface and performs the required operations before returning the result.</a:t>
            </a:r>
          </a:p>
          <a:p>
            <a:pPr>
              <a:spcAft>
                <a:spcPts val="700"/>
              </a:spcAft>
              <a:defRPr sz="1700">
                <a:solidFill>
                  <a:srgbClr val="232323"/>
                </a:solidFill>
              </a:defRPr>
            </a:pPr>
          </a:p>
          <a:p>
            <a:pPr>
              <a:spcAft>
                <a:spcPts val="700"/>
              </a:spcAft>
              <a:defRPr sz="1700" b="1">
                <a:solidFill>
                  <a:srgbClr val="232323"/>
                </a:solidFill>
              </a:defRPr>
            </a:pPr>
            <a:r>
              <a:t>Major backend responsibilities:</a:t>
            </a:r>
          </a:p>
          <a:p>
            <a:pPr>
              <a:spcAft>
                <a:spcPts val="700"/>
              </a:spcAft>
              <a:defRPr sz="1700">
                <a:solidFill>
                  <a:srgbClr val="232323"/>
                </a:solidFill>
              </a:defRPr>
            </a:pPr>
            <a:r>
              <a:t>• User registration and authentication.</a:t>
            </a:r>
          </a:p>
          <a:p>
            <a:pPr>
              <a:spcAft>
                <a:spcPts val="700"/>
              </a:spcAft>
              <a:defRPr sz="1700">
                <a:solidFill>
                  <a:srgbClr val="232323"/>
                </a:solidFill>
              </a:defRPr>
            </a:pPr>
            <a:r>
              <a:t>• Candidate and recruiter profile management.</a:t>
            </a:r>
          </a:p>
          <a:p>
            <a:pPr>
              <a:spcAft>
                <a:spcPts val="700"/>
              </a:spcAft>
              <a:defRPr sz="1700">
                <a:solidFill>
                  <a:srgbClr val="232323"/>
                </a:solidFill>
              </a:defRPr>
            </a:pPr>
            <a:r>
              <a:t>• Job creation, updating, and retrieval.</a:t>
            </a:r>
          </a:p>
          <a:p>
            <a:pPr>
              <a:spcAft>
                <a:spcPts val="700"/>
              </a:spcAft>
              <a:defRPr sz="1700">
                <a:solidFill>
                  <a:srgbClr val="232323"/>
                </a:solidFill>
              </a:defRPr>
            </a:pPr>
            <a:r>
              <a:t>• Application submission and status tracking.</a:t>
            </a:r>
          </a:p>
          <a:p>
            <a:pPr>
              <a:spcAft>
                <a:spcPts val="700"/>
              </a:spcAft>
              <a:defRPr sz="1700">
                <a:solidFill>
                  <a:srgbClr val="232323"/>
                </a:solidFill>
              </a:defRPr>
            </a:pPr>
            <a:r>
              <a:t>• Database connection and CRUD operations.</a:t>
            </a:r>
          </a:p>
          <a:p>
            <a:pPr>
              <a:spcAft>
                <a:spcPts val="700"/>
              </a:spcAft>
              <a:defRPr sz="1700">
                <a:solidFill>
                  <a:srgbClr val="232323"/>
                </a:solidFill>
              </a:defRPr>
            </a:pPr>
            <a:r>
              <a:t>• Input validation and error handling.</a:t>
            </a:r>
          </a:p>
          <a:p>
            <a:pPr>
              <a:spcAft>
                <a:spcPts val="700"/>
              </a:spcAft>
              <a:defRPr sz="1700">
                <a:solidFill>
                  <a:srgbClr val="232323"/>
                </a:solidFill>
              </a:defRPr>
            </a:pPr>
            <a:r>
              <a:t>• API development for communication with the frontend.</a:t>
            </a:r>
          </a:p>
          <a:p>
            <a:pPr>
              <a:spcAft>
                <a:spcPts val="700"/>
              </a:spcAft>
              <a:defRPr sz="1700">
                <a:solidFill>
                  <a:srgbClr val="232323"/>
                </a:solidFill>
              </a:defRPr>
            </a:pPr>
          </a:p>
          <a:p>
            <a:pPr>
              <a:spcAft>
                <a:spcPts val="700"/>
              </a:spcAft>
              <a:defRPr sz="1700">
                <a:solidFill>
                  <a:srgbClr val="232323"/>
                </a:solidFill>
              </a:defRPr>
            </a:pPr>
            <a:r>
              <a:t>A modular backend structure makes it easier to add intelligent screening, notifications, analytics, and other features in future versions.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INTELLIGENT RECRUITMENT FEATURES</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platform is designed to support intelligent recruitment rather than only basic record management.</a:t>
            </a:r>
          </a:p>
          <a:p>
            <a:pPr>
              <a:spcAft>
                <a:spcPts val="700"/>
              </a:spcAft>
              <a:defRPr sz="1700">
                <a:solidFill>
                  <a:srgbClr val="232323"/>
                </a:solidFill>
              </a:defRPr>
            </a:pPr>
          </a:p>
          <a:p>
            <a:pPr>
              <a:spcAft>
                <a:spcPts val="700"/>
              </a:spcAft>
              <a:defRPr sz="1700" b="1">
                <a:solidFill>
                  <a:srgbClr val="232323"/>
                </a:solidFill>
              </a:defRPr>
            </a:pPr>
            <a:r>
              <a:t>Possible intelligent features include:</a:t>
            </a:r>
          </a:p>
          <a:p>
            <a:pPr>
              <a:spcAft>
                <a:spcPts val="700"/>
              </a:spcAft>
              <a:defRPr sz="1700">
                <a:solidFill>
                  <a:srgbClr val="232323"/>
                </a:solidFill>
              </a:defRPr>
            </a:pPr>
            <a:r>
              <a:t>• Resume information extraction and structured storage.</a:t>
            </a:r>
          </a:p>
          <a:p>
            <a:pPr>
              <a:spcAft>
                <a:spcPts val="700"/>
              </a:spcAft>
              <a:defRPr sz="1700">
                <a:solidFill>
                  <a:srgbClr val="232323"/>
                </a:solidFill>
              </a:defRPr>
            </a:pPr>
            <a:r>
              <a:t>• Skill-based candidate matching.</a:t>
            </a:r>
          </a:p>
          <a:p>
            <a:pPr>
              <a:spcAft>
                <a:spcPts val="700"/>
              </a:spcAft>
              <a:defRPr sz="1700">
                <a:solidFill>
                  <a:srgbClr val="232323"/>
                </a:solidFill>
              </a:defRPr>
            </a:pPr>
            <a:r>
              <a:t>• Ranking candidates according to job requirements.</a:t>
            </a:r>
          </a:p>
          <a:p>
            <a:pPr>
              <a:spcAft>
                <a:spcPts val="700"/>
              </a:spcAft>
              <a:defRPr sz="1700">
                <a:solidFill>
                  <a:srgbClr val="232323"/>
                </a:solidFill>
              </a:defRPr>
            </a:pPr>
            <a:r>
              <a:t>• Filtering candidates by education, experience, and skills.</a:t>
            </a:r>
          </a:p>
          <a:p>
            <a:pPr>
              <a:spcAft>
                <a:spcPts val="700"/>
              </a:spcAft>
              <a:defRPr sz="1700">
                <a:solidFill>
                  <a:srgbClr val="232323"/>
                </a:solidFill>
              </a:defRPr>
            </a:pPr>
            <a:r>
              <a:t>• Job recommendation based on candidate profiles.</a:t>
            </a:r>
          </a:p>
          <a:p>
            <a:pPr>
              <a:spcAft>
                <a:spcPts val="700"/>
              </a:spcAft>
              <a:defRPr sz="1700">
                <a:solidFill>
                  <a:srgbClr val="232323"/>
                </a:solidFill>
              </a:defRPr>
            </a:pPr>
            <a:r>
              <a:t>• Recruitment analytics and performance reports.</a:t>
            </a:r>
          </a:p>
          <a:p>
            <a:pPr>
              <a:spcAft>
                <a:spcPts val="700"/>
              </a:spcAft>
              <a:defRPr sz="1700">
                <a:solidFill>
                  <a:srgbClr val="232323"/>
                </a:solidFill>
              </a:defRPr>
            </a:pPr>
          </a:p>
          <a:p>
            <a:pPr>
              <a:spcAft>
                <a:spcPts val="700"/>
              </a:spcAft>
              <a:defRPr sz="1700">
                <a:solidFill>
                  <a:srgbClr val="232323"/>
                </a:solidFill>
              </a:defRPr>
            </a:pPr>
            <a:r>
              <a:t>For example, if a job requires Java, SQL, and backend development skills, the system can compare these requirements with candidate profiles and identify candidates with a stronger skill match.</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TECHNOLOGIES USED</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b="1">
                <a:solidFill>
                  <a:srgbClr val="232323"/>
                </a:solidFill>
              </a:defRPr>
            </a:pPr>
            <a:r>
              <a:t>Frontend / User Interface:</a:t>
            </a:r>
          </a:p>
          <a:p>
            <a:pPr>
              <a:spcAft>
                <a:spcPts val="700"/>
              </a:spcAft>
              <a:defRPr sz="1700">
                <a:solidFill>
                  <a:srgbClr val="232323"/>
                </a:solidFill>
              </a:defRPr>
            </a:pPr>
            <a:r>
              <a:t>• HTML5 and CSS3 for structure and styling.</a:t>
            </a:r>
          </a:p>
          <a:p>
            <a:pPr>
              <a:spcAft>
                <a:spcPts val="700"/>
              </a:spcAft>
              <a:defRPr sz="1700">
                <a:solidFill>
                  <a:srgbClr val="232323"/>
                </a:solidFill>
              </a:defRPr>
            </a:pPr>
            <a:r>
              <a:t>• JavaScript for interactive functionality.</a:t>
            </a:r>
          </a:p>
          <a:p>
            <a:pPr>
              <a:spcAft>
                <a:spcPts val="700"/>
              </a:spcAft>
              <a:defRPr sz="1700">
                <a:solidFill>
                  <a:srgbClr val="232323"/>
                </a:solidFill>
              </a:defRPr>
            </a:pPr>
          </a:p>
          <a:p>
            <a:pPr>
              <a:spcAft>
                <a:spcPts val="700"/>
              </a:spcAft>
              <a:defRPr sz="1700" b="1">
                <a:solidFill>
                  <a:srgbClr val="232323"/>
                </a:solidFill>
              </a:defRPr>
            </a:pPr>
            <a:r>
              <a:t>Backend:</a:t>
            </a:r>
          </a:p>
          <a:p>
            <a:pPr>
              <a:spcAft>
                <a:spcPts val="700"/>
              </a:spcAft>
              <a:defRPr sz="1700">
                <a:solidFill>
                  <a:srgbClr val="232323"/>
                </a:solidFill>
              </a:defRPr>
            </a:pPr>
            <a:r>
              <a:t>• Java / Spring Boot or Node.js-based backend services.</a:t>
            </a:r>
          </a:p>
          <a:p>
            <a:pPr>
              <a:spcAft>
                <a:spcPts val="700"/>
              </a:spcAft>
              <a:defRPr sz="1700">
                <a:solidFill>
                  <a:srgbClr val="232323"/>
                </a:solidFill>
              </a:defRPr>
            </a:pPr>
            <a:r>
              <a:t>• REST APIs for communication between frontend and backend.</a:t>
            </a:r>
          </a:p>
          <a:p>
            <a:pPr>
              <a:spcAft>
                <a:spcPts val="700"/>
              </a:spcAft>
              <a:defRPr sz="1700">
                <a:solidFill>
                  <a:srgbClr val="232323"/>
                </a:solidFill>
              </a:defRPr>
            </a:pPr>
          </a:p>
          <a:p>
            <a:pPr>
              <a:spcAft>
                <a:spcPts val="700"/>
              </a:spcAft>
              <a:defRPr sz="1700" b="1">
                <a:solidFill>
                  <a:srgbClr val="232323"/>
                </a:solidFill>
              </a:defRPr>
            </a:pPr>
            <a:r>
              <a:t>Database:</a:t>
            </a:r>
          </a:p>
          <a:p>
            <a:pPr>
              <a:spcAft>
                <a:spcPts val="700"/>
              </a:spcAft>
              <a:defRPr sz="1700">
                <a:solidFill>
                  <a:srgbClr val="232323"/>
                </a:solidFill>
              </a:defRPr>
            </a:pPr>
            <a:r>
              <a:t>• MySQL for structured relational data storage.</a:t>
            </a:r>
          </a:p>
          <a:p>
            <a:pPr>
              <a:spcAft>
                <a:spcPts val="700"/>
              </a:spcAft>
              <a:defRPr sz="1700">
                <a:solidFill>
                  <a:srgbClr val="232323"/>
                </a:solidFill>
              </a:defRPr>
            </a:pPr>
          </a:p>
          <a:p>
            <a:pPr>
              <a:spcAft>
                <a:spcPts val="700"/>
              </a:spcAft>
              <a:defRPr sz="1700" b="1">
                <a:solidFill>
                  <a:srgbClr val="232323"/>
                </a:solidFill>
              </a:defRPr>
            </a:pPr>
            <a:r>
              <a:t>Development Tools:</a:t>
            </a:r>
          </a:p>
          <a:p>
            <a:pPr>
              <a:spcAft>
                <a:spcPts val="700"/>
              </a:spcAft>
              <a:defRPr sz="1700">
                <a:solidFill>
                  <a:srgbClr val="232323"/>
                </a:solidFill>
              </a:defRPr>
            </a:pPr>
            <a:r>
              <a:t>• Visual Studio Code / IntelliJ IDEA.</a:t>
            </a:r>
          </a:p>
          <a:p>
            <a:pPr>
              <a:spcAft>
                <a:spcPts val="700"/>
              </a:spcAft>
              <a:defRPr sz="1700">
                <a:solidFill>
                  <a:srgbClr val="232323"/>
                </a:solidFill>
              </a:defRPr>
            </a:pPr>
            <a:r>
              <a:t>• Postman for API testing.</a:t>
            </a:r>
          </a:p>
          <a:p>
            <a:pPr>
              <a:spcAft>
                <a:spcPts val="700"/>
              </a:spcAft>
              <a:defRPr sz="1700">
                <a:solidFill>
                  <a:srgbClr val="232323"/>
                </a:solidFill>
              </a:defRPr>
            </a:pPr>
            <a:r>
              <a:t>• Git and GitHub for version control.</a:t>
            </a:r>
          </a:p>
          <a:p>
            <a:pPr>
              <a:spcAft>
                <a:spcPts val="700"/>
              </a:spcAft>
              <a:defRPr sz="1700">
                <a:solidFill>
                  <a:srgbClr val="232323"/>
                </a:solidFill>
              </a:defRPr>
            </a:pPr>
          </a:p>
          <a:p>
            <a:pPr>
              <a:spcAft>
                <a:spcPts val="700"/>
              </a:spcAft>
              <a:defRPr sz="1700">
                <a:solidFill>
                  <a:srgbClr val="232323"/>
                </a:solidFill>
              </a:defRPr>
            </a:pPr>
            <a:r>
              <a:t>The technology stack can be implemented using the tools available in the project environment and can be expanded as the project develops.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METHODOLOGY</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project follows a systematic software development approach.</a:t>
            </a:r>
          </a:p>
          <a:p>
            <a:pPr>
              <a:spcAft>
                <a:spcPts val="700"/>
              </a:spcAft>
              <a:defRPr sz="1700">
                <a:solidFill>
                  <a:srgbClr val="232323"/>
                </a:solidFill>
              </a:defRPr>
            </a:pPr>
          </a:p>
          <a:p>
            <a:pPr>
              <a:spcAft>
                <a:spcPts val="700"/>
              </a:spcAft>
              <a:defRPr sz="1700">
                <a:solidFill>
                  <a:srgbClr val="232323"/>
                </a:solidFill>
              </a:defRPr>
            </a:pPr>
            <a:r>
              <a:t>Step 1 – Requirement Analysis</a:t>
            </a:r>
          </a:p>
          <a:p>
            <a:pPr>
              <a:spcAft>
                <a:spcPts val="700"/>
              </a:spcAft>
              <a:defRPr sz="1700">
                <a:solidFill>
                  <a:srgbClr val="232323"/>
                </a:solidFill>
              </a:defRPr>
            </a:pPr>
            <a:r>
              <a:t>Identify candidate, recruiter, job, application, and database requirements.</a:t>
            </a:r>
          </a:p>
          <a:p>
            <a:pPr>
              <a:spcAft>
                <a:spcPts val="700"/>
              </a:spcAft>
              <a:defRPr sz="1700">
                <a:solidFill>
                  <a:srgbClr val="232323"/>
                </a:solidFill>
              </a:defRPr>
            </a:pPr>
          </a:p>
          <a:p>
            <a:pPr>
              <a:spcAft>
                <a:spcPts val="700"/>
              </a:spcAft>
              <a:defRPr sz="1700">
                <a:solidFill>
                  <a:srgbClr val="232323"/>
                </a:solidFill>
              </a:defRPr>
            </a:pPr>
            <a:r>
              <a:t>Step 2 – System Design</a:t>
            </a:r>
          </a:p>
          <a:p>
            <a:pPr>
              <a:spcAft>
                <a:spcPts val="700"/>
              </a:spcAft>
              <a:defRPr sz="1700">
                <a:solidFill>
                  <a:srgbClr val="232323"/>
                </a:solidFill>
              </a:defRPr>
            </a:pPr>
            <a:r>
              <a:t>Design the architecture, database schema, modules, and data flow.</a:t>
            </a:r>
          </a:p>
          <a:p>
            <a:pPr>
              <a:spcAft>
                <a:spcPts val="700"/>
              </a:spcAft>
              <a:defRPr sz="1700">
                <a:solidFill>
                  <a:srgbClr val="232323"/>
                </a:solidFill>
              </a:defRPr>
            </a:pPr>
          </a:p>
          <a:p>
            <a:pPr>
              <a:spcAft>
                <a:spcPts val="700"/>
              </a:spcAft>
              <a:defRPr sz="1700">
                <a:solidFill>
                  <a:srgbClr val="232323"/>
                </a:solidFill>
              </a:defRPr>
            </a:pPr>
            <a:r>
              <a:t>Step 3 – Database Development</a:t>
            </a:r>
          </a:p>
          <a:p>
            <a:pPr>
              <a:spcAft>
                <a:spcPts val="700"/>
              </a:spcAft>
              <a:defRPr sz="1700">
                <a:solidFill>
                  <a:srgbClr val="232323"/>
                </a:solidFill>
              </a:defRPr>
            </a:pPr>
            <a:r>
              <a:t>Create tables, relationships, constraints, and queries for recruitment records.</a:t>
            </a:r>
          </a:p>
          <a:p>
            <a:pPr>
              <a:spcAft>
                <a:spcPts val="700"/>
              </a:spcAft>
              <a:defRPr sz="1700">
                <a:solidFill>
                  <a:srgbClr val="232323"/>
                </a:solidFill>
              </a:defRPr>
            </a:pPr>
          </a:p>
          <a:p>
            <a:pPr>
              <a:spcAft>
                <a:spcPts val="700"/>
              </a:spcAft>
              <a:defRPr sz="1700">
                <a:solidFill>
                  <a:srgbClr val="232323"/>
                </a:solidFill>
              </a:defRPr>
            </a:pPr>
            <a:r>
              <a:t>Step 4 – Backend Development</a:t>
            </a:r>
          </a:p>
          <a:p>
            <a:pPr>
              <a:spcAft>
                <a:spcPts val="700"/>
              </a:spcAft>
              <a:defRPr sz="1700">
                <a:solidFill>
                  <a:srgbClr val="232323"/>
                </a:solidFill>
              </a:defRPr>
            </a:pPr>
            <a:r>
              <a:t>Implement authentication, APIs, business logic, and CRUD operations.</a:t>
            </a:r>
          </a:p>
          <a:p>
            <a:pPr>
              <a:spcAft>
                <a:spcPts val="700"/>
              </a:spcAft>
              <a:defRPr sz="1700">
                <a:solidFill>
                  <a:srgbClr val="232323"/>
                </a:solidFill>
              </a:defRPr>
            </a:pPr>
          </a:p>
          <a:p>
            <a:pPr>
              <a:spcAft>
                <a:spcPts val="700"/>
              </a:spcAft>
              <a:defRPr sz="1700">
                <a:solidFill>
                  <a:srgbClr val="232323"/>
                </a:solidFill>
              </a:defRPr>
            </a:pPr>
            <a:r>
              <a:t>Step 5 – Integration</a:t>
            </a:r>
          </a:p>
          <a:p>
            <a:pPr>
              <a:spcAft>
                <a:spcPts val="700"/>
              </a:spcAft>
              <a:defRPr sz="1700">
                <a:solidFill>
                  <a:srgbClr val="232323"/>
                </a:solidFill>
              </a:defRPr>
            </a:pPr>
            <a:r>
              <a:t>Connect the user interface, backend services, and database.</a:t>
            </a:r>
          </a:p>
          <a:p>
            <a:pPr>
              <a:spcAft>
                <a:spcPts val="700"/>
              </a:spcAft>
              <a:defRPr sz="1700">
                <a:solidFill>
                  <a:srgbClr val="232323"/>
                </a:solidFill>
              </a:defRPr>
            </a:pPr>
          </a:p>
          <a:p>
            <a:pPr>
              <a:spcAft>
                <a:spcPts val="700"/>
              </a:spcAft>
              <a:defRPr sz="1700">
                <a:solidFill>
                  <a:srgbClr val="232323"/>
                </a:solidFill>
              </a:defRPr>
            </a:pPr>
            <a:r>
              <a:t>Step 6 – Testing</a:t>
            </a:r>
          </a:p>
          <a:p>
            <a:pPr>
              <a:spcAft>
                <a:spcPts val="700"/>
              </a:spcAft>
              <a:defRPr sz="1700">
                <a:solidFill>
                  <a:srgbClr val="232323"/>
                </a:solidFill>
              </a:defRPr>
            </a:pPr>
            <a:r>
              <a:t>Test individual modules, APIs, database operations, validation, and complete workflows.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EXPECTED RESULTS</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proposed system is expected to provide a centralized and organized recruitment environment.</a:t>
            </a:r>
          </a:p>
          <a:p>
            <a:pPr>
              <a:spcAft>
                <a:spcPts val="700"/>
              </a:spcAft>
              <a:defRPr sz="1700">
                <a:solidFill>
                  <a:srgbClr val="232323"/>
                </a:solidFill>
              </a:defRPr>
            </a:pPr>
          </a:p>
          <a:p>
            <a:pPr>
              <a:spcAft>
                <a:spcPts val="700"/>
              </a:spcAft>
              <a:defRPr sz="1700" b="1">
                <a:solidFill>
                  <a:srgbClr val="232323"/>
                </a:solidFill>
              </a:defRPr>
            </a:pPr>
            <a:r>
              <a:t>Expected outcomes include:</a:t>
            </a:r>
          </a:p>
          <a:p>
            <a:pPr>
              <a:spcAft>
                <a:spcPts val="700"/>
              </a:spcAft>
              <a:defRPr sz="1700">
                <a:solidFill>
                  <a:srgbClr val="232323"/>
                </a:solidFill>
              </a:defRPr>
            </a:pPr>
            <a:r>
              <a:t>• Faster access to candidate information.</a:t>
            </a:r>
          </a:p>
          <a:p>
            <a:pPr>
              <a:spcAft>
                <a:spcPts val="700"/>
              </a:spcAft>
              <a:defRPr sz="1700">
                <a:solidFill>
                  <a:srgbClr val="232323"/>
                </a:solidFill>
              </a:defRPr>
            </a:pPr>
            <a:r>
              <a:t>• Reduced manual data entry and repetitive work.</a:t>
            </a:r>
          </a:p>
          <a:p>
            <a:pPr>
              <a:spcAft>
                <a:spcPts val="700"/>
              </a:spcAft>
              <a:defRPr sz="1700">
                <a:solidFill>
                  <a:srgbClr val="232323"/>
                </a:solidFill>
              </a:defRPr>
            </a:pPr>
            <a:r>
              <a:t>• Better organization of job and application records.</a:t>
            </a:r>
          </a:p>
          <a:p>
            <a:pPr>
              <a:spcAft>
                <a:spcPts val="700"/>
              </a:spcAft>
              <a:defRPr sz="1700">
                <a:solidFill>
                  <a:srgbClr val="232323"/>
                </a:solidFill>
              </a:defRPr>
            </a:pPr>
            <a:r>
              <a:t>• Easy tracking of recruitment status.</a:t>
            </a:r>
          </a:p>
          <a:p>
            <a:pPr>
              <a:spcAft>
                <a:spcPts val="700"/>
              </a:spcAft>
              <a:defRPr sz="1700">
                <a:solidFill>
                  <a:srgbClr val="232323"/>
                </a:solidFill>
              </a:defRPr>
            </a:pPr>
            <a:r>
              <a:t>• Improved candidate filtering and shortlisting.</a:t>
            </a:r>
          </a:p>
          <a:p>
            <a:pPr>
              <a:spcAft>
                <a:spcPts val="700"/>
              </a:spcAft>
              <a:defRPr sz="1700">
                <a:solidFill>
                  <a:srgbClr val="232323"/>
                </a:solidFill>
              </a:defRPr>
            </a:pPr>
            <a:r>
              <a:t>• Reduced duplication and inconsistency in records.</a:t>
            </a:r>
          </a:p>
          <a:p>
            <a:pPr>
              <a:spcAft>
                <a:spcPts val="700"/>
              </a:spcAft>
              <a:defRPr sz="1700">
                <a:solidFill>
                  <a:srgbClr val="232323"/>
                </a:solidFill>
              </a:defRPr>
            </a:pPr>
            <a:r>
              <a:t>• Secure and structured database management.</a:t>
            </a:r>
          </a:p>
          <a:p>
            <a:pPr>
              <a:spcAft>
                <a:spcPts val="700"/>
              </a:spcAft>
              <a:defRPr sz="1700">
                <a:solidFill>
                  <a:srgbClr val="232323"/>
                </a:solidFill>
              </a:defRPr>
            </a:pPr>
            <a:r>
              <a:t>• A scalable foundation for intelligent candidate matching and analytics.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ADVANTAGES</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 Centralized recruitment information in one database.</a:t>
            </a:r>
          </a:p>
          <a:p>
            <a:pPr>
              <a:spcAft>
                <a:spcPts val="700"/>
              </a:spcAft>
              <a:defRPr sz="1700">
                <a:solidFill>
                  <a:srgbClr val="232323"/>
                </a:solidFill>
              </a:defRPr>
            </a:pPr>
            <a:r>
              <a:t>• Reduces time required for repetitive recruitment activities.</a:t>
            </a:r>
          </a:p>
          <a:p>
            <a:pPr>
              <a:spcAft>
                <a:spcPts val="700"/>
              </a:spcAft>
              <a:defRPr sz="1700">
                <a:solidFill>
                  <a:srgbClr val="232323"/>
                </a:solidFill>
              </a:defRPr>
            </a:pPr>
            <a:r>
              <a:t>• Provides faster candidate searching and filtering.</a:t>
            </a:r>
          </a:p>
          <a:p>
            <a:pPr>
              <a:spcAft>
                <a:spcPts val="700"/>
              </a:spcAft>
              <a:defRPr sz="1700">
                <a:solidFill>
                  <a:srgbClr val="232323"/>
                </a:solidFill>
              </a:defRPr>
            </a:pPr>
            <a:r>
              <a:t>• Makes application tracking easier for recruiters and candidates.</a:t>
            </a:r>
          </a:p>
          <a:p>
            <a:pPr>
              <a:spcAft>
                <a:spcPts val="700"/>
              </a:spcAft>
              <a:defRPr sz="1700">
                <a:solidFill>
                  <a:srgbClr val="232323"/>
                </a:solidFill>
              </a:defRPr>
            </a:pPr>
            <a:r>
              <a:t>• Improves consistency and reliability of stored information.</a:t>
            </a:r>
          </a:p>
          <a:p>
            <a:pPr>
              <a:spcAft>
                <a:spcPts val="700"/>
              </a:spcAft>
              <a:defRPr sz="1700">
                <a:solidFill>
                  <a:srgbClr val="232323"/>
                </a:solidFill>
              </a:defRPr>
            </a:pPr>
            <a:r>
              <a:t>• Supports role-based access and controlled operations.</a:t>
            </a:r>
          </a:p>
          <a:p>
            <a:pPr>
              <a:spcAft>
                <a:spcPts val="700"/>
              </a:spcAft>
              <a:defRPr sz="1700">
                <a:solidFill>
                  <a:srgbClr val="232323"/>
                </a:solidFill>
              </a:defRPr>
            </a:pPr>
            <a:r>
              <a:t>• Backend APIs allow different interfaces to use the same services.</a:t>
            </a:r>
          </a:p>
          <a:p>
            <a:pPr>
              <a:spcAft>
                <a:spcPts val="700"/>
              </a:spcAft>
              <a:defRPr sz="1700">
                <a:solidFill>
                  <a:srgbClr val="232323"/>
                </a:solidFill>
              </a:defRPr>
            </a:pPr>
            <a:r>
              <a:t>• Database relationships provide organized and reliable data management.</a:t>
            </a:r>
          </a:p>
          <a:p>
            <a:pPr>
              <a:spcAft>
                <a:spcPts val="700"/>
              </a:spcAft>
              <a:defRPr sz="1700">
                <a:solidFill>
                  <a:srgbClr val="232323"/>
                </a:solidFill>
              </a:defRPr>
            </a:pPr>
            <a:r>
              <a:t>• The system can be extended with AI/ML-based recruitment features.</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FUTURE SCOPE</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platform can be enhanced with advanced intelligent features in future versions.</a:t>
            </a:r>
          </a:p>
          <a:p>
            <a:pPr>
              <a:spcAft>
                <a:spcPts val="700"/>
              </a:spcAft>
              <a:defRPr sz="1700">
                <a:solidFill>
                  <a:srgbClr val="232323"/>
                </a:solidFill>
              </a:defRPr>
            </a:pPr>
          </a:p>
          <a:p>
            <a:pPr>
              <a:spcAft>
                <a:spcPts val="700"/>
              </a:spcAft>
              <a:defRPr sz="1700">
                <a:solidFill>
                  <a:srgbClr val="232323"/>
                </a:solidFill>
              </a:defRPr>
            </a:pPr>
            <a:r>
              <a:t>• AI-based resume parsing and information extraction.</a:t>
            </a:r>
          </a:p>
          <a:p>
            <a:pPr>
              <a:spcAft>
                <a:spcPts val="700"/>
              </a:spcAft>
              <a:defRPr sz="1700">
                <a:solidFill>
                  <a:srgbClr val="232323"/>
                </a:solidFill>
              </a:defRPr>
            </a:pPr>
            <a:r>
              <a:t>• Natural language processing for understanding resumes and job descriptions.</a:t>
            </a:r>
          </a:p>
          <a:p>
            <a:pPr>
              <a:spcAft>
                <a:spcPts val="700"/>
              </a:spcAft>
              <a:defRPr sz="1700">
                <a:solidFill>
                  <a:srgbClr val="232323"/>
                </a:solidFill>
              </a:defRPr>
            </a:pPr>
            <a:r>
              <a:t>• Machine learning-based candidate ranking.</a:t>
            </a:r>
          </a:p>
          <a:p>
            <a:pPr>
              <a:spcAft>
                <a:spcPts val="700"/>
              </a:spcAft>
              <a:defRPr sz="1700">
                <a:solidFill>
                  <a:srgbClr val="232323"/>
                </a:solidFill>
              </a:defRPr>
            </a:pPr>
            <a:r>
              <a:t>• Automated job recommendations.</a:t>
            </a:r>
          </a:p>
          <a:p>
            <a:pPr>
              <a:spcAft>
                <a:spcPts val="700"/>
              </a:spcAft>
              <a:defRPr sz="1700">
                <a:solidFill>
                  <a:srgbClr val="232323"/>
                </a:solidFill>
              </a:defRPr>
            </a:pPr>
            <a:r>
              <a:t>• Skill-gap analysis and candidate improvement suggestions.</a:t>
            </a:r>
          </a:p>
          <a:p>
            <a:pPr>
              <a:spcAft>
                <a:spcPts val="700"/>
              </a:spcAft>
              <a:defRPr sz="1700">
                <a:solidFill>
                  <a:srgbClr val="232323"/>
                </a:solidFill>
              </a:defRPr>
            </a:pPr>
            <a:r>
              <a:t>• Interview scheduling and automated notifications.</a:t>
            </a:r>
          </a:p>
          <a:p>
            <a:pPr>
              <a:spcAft>
                <a:spcPts val="700"/>
              </a:spcAft>
              <a:defRPr sz="1700">
                <a:solidFill>
                  <a:srgbClr val="232323"/>
                </a:solidFill>
              </a:defRPr>
            </a:pPr>
            <a:r>
              <a:t>• Recruitment dashboards with charts and analytics.</a:t>
            </a:r>
          </a:p>
          <a:p>
            <a:pPr>
              <a:spcAft>
                <a:spcPts val="700"/>
              </a:spcAft>
              <a:defRPr sz="1700">
                <a:solidFill>
                  <a:srgbClr val="232323"/>
                </a:solidFill>
              </a:defRPr>
            </a:pPr>
            <a:r>
              <a:t>• Integration with external job portals.</a:t>
            </a:r>
          </a:p>
          <a:p>
            <a:pPr>
              <a:spcAft>
                <a:spcPts val="700"/>
              </a:spcAft>
              <a:defRPr sz="1700">
                <a:solidFill>
                  <a:srgbClr val="232323"/>
                </a:solidFill>
              </a:defRPr>
            </a:pPr>
            <a:r>
              <a:t>• Cloud deployment for large-scale organizations.</a:t>
            </a:r>
          </a:p>
          <a:p>
            <a:pPr>
              <a:spcAft>
                <a:spcPts val="700"/>
              </a:spcAft>
              <a:defRPr sz="1700">
                <a:solidFill>
                  <a:srgbClr val="232323"/>
                </a:solidFill>
              </a:defRPr>
            </a:pPr>
            <a:r>
              <a:t>• Advanced security, audit logs, and role-based access control.</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18872"/>
            <a:ext cx="10972800" cy="457200"/>
          </a:xfrm>
          <a:prstGeom prst="rect">
            <a:avLst/>
          </a:prstGeom>
          <a:noFill/>
        </p:spPr>
        <p:txBody>
          <a:bodyPr wrap="none">
            <a:spAutoFit/>
          </a:bodyPr>
          <a:lstStyle/>
          <a:p>
            <a:pPr>
              <a:defRPr sz="2600" b="1">
                <a:solidFill>
                  <a:srgbClr val="FFFFFF"/>
                </a:solidFill>
              </a:defRPr>
            </a:pPr>
            <a:r>
              <a:t>CONCLUSION</a:t>
            </a:r>
          </a:p>
        </p:txBody>
      </p:sp>
      <p:sp>
        <p:nvSpPr>
          <p:cNvPr id="4" name="TextBox 3"/>
          <p:cNvSpPr txBox="1"/>
          <p:nvPr/>
        </p:nvSpPr>
        <p:spPr>
          <a:xfrm>
            <a:off x="685800" y="960120"/>
            <a:ext cx="10835640" cy="5440680"/>
          </a:xfrm>
          <a:prstGeom prst="rect">
            <a:avLst/>
          </a:prstGeom>
          <a:noFill/>
        </p:spPr>
        <p:txBody>
          <a:bodyPr wrap="square">
            <a:spAutoFit/>
          </a:bodyPr>
          <a:lstStyle/>
          <a:p>
            <a:pPr>
              <a:spcAft>
                <a:spcPts val="700"/>
              </a:spcAft>
              <a:defRPr sz="1700">
                <a:solidFill>
                  <a:srgbClr val="232323"/>
                </a:solidFill>
              </a:defRPr>
            </a:pPr>
            <a:r>
              <a:t>The Intelligent Recruitment Platform with Database Systems and Backend Engineering provides a structured approach to modern recruitment management. It brings candidate profiles, job vacancies, applications, and recruitment activities into a centralized system.</a:t>
            </a:r>
          </a:p>
          <a:p>
            <a:pPr>
              <a:spcAft>
                <a:spcPts val="700"/>
              </a:spcAft>
              <a:defRPr sz="1700">
                <a:solidFill>
                  <a:srgbClr val="232323"/>
                </a:solidFill>
              </a:defRPr>
            </a:pPr>
          </a:p>
          <a:p>
            <a:pPr>
              <a:spcAft>
                <a:spcPts val="700"/>
              </a:spcAft>
              <a:defRPr sz="1700">
                <a:solidFill>
                  <a:srgbClr val="232323"/>
                </a:solidFill>
              </a:defRPr>
            </a:pPr>
            <a:r>
              <a:t>The database ensures organized and reliable storage, while the backend manages business logic and communication between system components. The proposed platform can reduce manual effort, improve recruitment tracking, and provide a strong foundation for intelligent candidate matching.</a:t>
            </a:r>
          </a:p>
          <a:p>
            <a:pPr>
              <a:spcAft>
                <a:spcPts val="700"/>
              </a:spcAft>
              <a:defRPr sz="1700">
                <a:solidFill>
                  <a:srgbClr val="232323"/>
                </a:solidFill>
              </a:defRPr>
            </a:pPr>
          </a:p>
          <a:p>
            <a:pPr>
              <a:spcAft>
                <a:spcPts val="700"/>
              </a:spcAft>
              <a:defRPr sz="1700">
                <a:solidFill>
                  <a:srgbClr val="232323"/>
                </a:solidFill>
              </a:defRPr>
            </a:pPr>
            <a:r>
              <a:t>With future integration of AI, machine learning, analytics, and automation, the platform can become a scalable solution for efficient and data-driven recruitment.</a:t>
            </a:r>
          </a:p>
        </p:txBody>
      </p:sp>
      <p:sp>
        <p:nvSpPr>
          <p:cNvPr id="5" name="TextBox 4"/>
          <p:cNvSpPr txBox="1"/>
          <p:nvPr/>
        </p:nvSpPr>
        <p:spPr>
          <a:xfrm>
            <a:off x="10698480" y="6446520"/>
            <a:ext cx="914400" cy="228600"/>
          </a:xfrm>
          <a:prstGeom prst="rect">
            <a:avLst/>
          </a:prstGeom>
          <a:noFill/>
        </p:spPr>
        <p:txBody>
          <a:bodyPr wrap="none">
            <a:spAutoFit/>
          </a:bodyPr>
          <a:lstStyle/>
          <a:p>
            <a:pPr algn="r">
              <a:defRPr sz="1000">
                <a:solidFill>
                  <a:srgbClr val="646464"/>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188720"/>
            <a:ext cx="10332720" cy="1097280"/>
          </a:xfrm>
          <a:prstGeom prst="rect">
            <a:avLst/>
          </a:prstGeom>
          <a:noFill/>
        </p:spPr>
        <p:txBody>
          <a:bodyPr wrap="none">
            <a:spAutoFit/>
          </a:bodyPr>
          <a:lstStyle/>
          <a:p>
            <a:pPr algn="ctr">
              <a:defRPr sz="3400" b="1">
                <a:solidFill>
                  <a:srgbClr val="FFFFFF"/>
                </a:solidFill>
              </a:defRPr>
            </a:pPr>
            <a:r>
              <a:t>PROJECT REVIEW – 1</a:t>
            </a:r>
          </a:p>
        </p:txBody>
      </p:sp>
      <p:sp>
        <p:nvSpPr>
          <p:cNvPr id="3" name="TextBox 2"/>
          <p:cNvSpPr txBox="1"/>
          <p:nvPr/>
        </p:nvSpPr>
        <p:spPr>
          <a:xfrm>
            <a:off x="914400" y="2468880"/>
            <a:ext cx="10332720" cy="1828800"/>
          </a:xfrm>
          <a:prstGeom prst="rect">
            <a:avLst/>
          </a:prstGeom>
          <a:noFill/>
        </p:spPr>
        <p:txBody>
          <a:bodyPr wrap="none">
            <a:spAutoFit/>
          </a:bodyPr>
          <a:lstStyle/>
          <a:p>
            <a:pPr algn="ctr">
              <a:defRPr sz="3000" b="1">
                <a:solidFill>
                  <a:srgbClr val="FFFFFF"/>
                </a:solidFill>
              </a:defRPr>
            </a:pPr>
            <a:r>
              <a:t>INTELLIGENT RECRUITMENT PLATFORM</a:t>
            </a:r>
          </a:p>
          <a:p>
            <a:pPr algn="ctr">
              <a:defRPr sz="2400" b="1">
                <a:solidFill>
                  <a:srgbClr val="E6F0FA"/>
                </a:solidFill>
              </a:defRPr>
            </a:pPr>
            <a:r>
              <a:t>WITH DATABASE SYSTEMS AND BACKEND ENGINEERING</a:t>
            </a:r>
          </a:p>
          <a:p>
            <a:pPr>
              <a:defRPr sz="1600"/>
            </a:pPr>
          </a:p>
          <a:p>
            <a:pPr algn="ctr">
              <a:defRPr sz="1800">
                <a:solidFill>
                  <a:srgbClr val="FFFFFF"/>
                </a:solidFill>
              </a:defRPr>
            </a:pPr>
            <a:r>
              <a:t>Department of Computer Science and Engineering</a:t>
            </a:r>
          </a:p>
          <a:p>
            <a:pPr algn="ctr">
              <a:defRPr sz="1700">
                <a:solidFill>
                  <a:srgbClr val="FFFFFF"/>
                </a:solidFill>
              </a:defRPr>
            </a:pPr>
            <a:r>
              <a:t>Academic Year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188720"/>
            <a:ext cx="10332720" cy="1097280"/>
          </a:xfrm>
          <a:prstGeom prst="rect">
            <a:avLst/>
          </a:prstGeom>
          <a:noFill/>
        </p:spPr>
        <p:txBody>
          <a:bodyPr wrap="none">
            <a:spAutoFit/>
          </a:bodyPr>
          <a:lstStyle/>
          <a:p>
            <a:pPr algn="ctr">
              <a:defRPr sz="3400" b="1">
                <a:solidFill>
                  <a:srgbClr val="FFFFFF"/>
                </a:solidFill>
              </a:defRPr>
            </a:pPr>
            <a:r>
              <a:t>PROJECT REVIEW – 1</a:t>
            </a:r>
          </a:p>
        </p:txBody>
      </p:sp>
      <p:sp>
        <p:nvSpPr>
          <p:cNvPr id="3" name="TextBox 2"/>
          <p:cNvSpPr txBox="1"/>
          <p:nvPr/>
        </p:nvSpPr>
        <p:spPr>
          <a:xfrm>
            <a:off x="914400" y="2468880"/>
            <a:ext cx="10332720" cy="1828800"/>
          </a:xfrm>
          <a:prstGeom prst="rect">
            <a:avLst/>
          </a:prstGeom>
          <a:noFill/>
        </p:spPr>
        <p:txBody>
          <a:bodyPr wrap="none">
            <a:spAutoFit/>
          </a:bodyPr>
          <a:lstStyle/>
          <a:p>
            <a:pPr algn="ctr">
              <a:defRPr sz="3000" b="1">
                <a:solidFill>
                  <a:srgbClr val="FFFFFF"/>
                </a:solidFill>
              </a:defRPr>
            </a:pPr>
            <a:r>
              <a:t>INTELLIGENT RECRUITMENT PLATFORM</a:t>
            </a:r>
          </a:p>
          <a:p>
            <a:pPr algn="ctr">
              <a:defRPr sz="2400" b="1">
                <a:solidFill>
                  <a:srgbClr val="E6F0FA"/>
                </a:solidFill>
              </a:defRPr>
            </a:pPr>
            <a:r>
              <a:t>WITH DATABASE SYSTEMS AND BACKEND ENGINEERING</a:t>
            </a:r>
          </a:p>
          <a:p>
            <a:pPr>
              <a:defRPr sz="1600"/>
            </a:pPr>
          </a:p>
          <a:p>
            <a:pPr algn="ctr">
              <a:defRPr sz="1800">
                <a:solidFill>
                  <a:srgbClr val="FFFFFF"/>
                </a:solidFill>
              </a:defRPr>
            </a:pPr>
            <a:r>
              <a:t>Department of Computer Science and Engineering</a:t>
            </a:r>
          </a:p>
          <a:p>
            <a:pPr algn="ctr">
              <a:defRPr sz="1700">
                <a:solidFill>
                  <a:srgbClr val="FFFFFF"/>
                </a:solidFill>
              </a:defRPr>
            </a:pPr>
            <a:r>
              <a:t>Academic Year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